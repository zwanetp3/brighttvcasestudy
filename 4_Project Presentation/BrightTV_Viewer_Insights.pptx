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0A16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162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162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A162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A162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A162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A162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A162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A3A6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D7C8F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Northern Cape</c:v>
                  </c:pt>
                  <c:pt idx="1">
                    <c:v>Free State</c:v>
                  </c:pt>
                  <c:pt idx="2">
                    <c:v>North West</c:v>
                  </c:pt>
                  <c:pt idx="3">
                    <c:v>Eastern Cape</c:v>
                  </c:pt>
                  <c:pt idx="4">
                    <c:v>Limpopo</c:v>
                  </c:pt>
                  <c:pt idx="5">
                    <c:v>Mpumalanga</c:v>
                  </c:pt>
                  <c:pt idx="6">
                    <c:v>KwaZulu-Natal</c:v>
                  </c:pt>
                  <c:pt idx="7">
                    <c:v>Western Cape</c:v>
                  </c:pt>
                  <c:pt idx="8">
                    <c:v>Gauteng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86</c:v>
                </c:pt>
                <c:pt idx="1">
                  <c:v>156</c:v>
                </c:pt>
                <c:pt idx="2">
                  <c:v>161</c:v>
                </c:pt>
                <c:pt idx="3">
                  <c:v>287</c:v>
                </c:pt>
                <c:pt idx="4">
                  <c:v>368</c:v>
                </c:pt>
                <c:pt idx="5">
                  <c:v>421</c:v>
                </c:pt>
                <c:pt idx="6">
                  <c:v>481</c:v>
                </c:pt>
                <c:pt idx="7">
                  <c:v>791</c:v>
                </c:pt>
                <c:pt idx="8">
                  <c:v>1704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8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3A6B"/>
              </a:solidFill>
              <a:effectLst/>
            </c:spPr>
          </c:dPt>
          <c:dPt>
            <c:idx val="1"/>
            <c:bubble3D val="0"/>
            <c:spPr>
              <a:solidFill>
                <a:srgbClr val="14B8C8"/>
              </a:solidFill>
              <a:effectLst/>
            </c:spPr>
          </c:dPt>
          <c:dPt>
            <c:idx val="2"/>
            <c:bubble3D val="0"/>
            <c:spPr>
              <a:solidFill>
                <a:srgbClr val="CBD5E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Unknown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3918</c:v>
                </c:pt>
                <c:pt idx="1">
                  <c:v>537</c:v>
                </c:pt>
                <c:pt idx="2">
                  <c:v>702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1628"/>
              </a:solidFill>
              <a:effectLst/>
            </c:spPr>
          </c:dPt>
          <c:dPt>
            <c:idx val="1"/>
            <c:bubble3D val="0"/>
            <c:spPr>
              <a:solidFill>
                <a:srgbClr val="0D7C8F"/>
              </a:solidFill>
              <a:effectLst/>
            </c:spPr>
          </c:dPt>
          <c:dPt>
            <c:idx val="2"/>
            <c:bubble3D val="0"/>
            <c:spPr>
              <a:solidFill>
                <a:srgbClr val="1A3A6B"/>
              </a:solidFill>
              <a:effectLst/>
            </c:spPr>
          </c:dPt>
          <c:dPt>
            <c:idx val="3"/>
            <c:bubble3D val="0"/>
            <c:spPr>
              <a:solidFill>
                <a:srgbClr val="14B8C8"/>
              </a:solidFill>
              <a:effectLst/>
            </c:spPr>
          </c:dPt>
          <c:dPt>
            <c:idx val="4"/>
            <c:bubble3D val="0"/>
            <c:spPr>
              <a:solidFill>
                <a:srgbClr val="64748B"/>
              </a:solidFill>
              <a:effectLst/>
            </c:spPr>
          </c:dPt>
          <c:dPt>
            <c:idx val="5"/>
            <c:bubble3D val="0"/>
            <c:spPr>
              <a:solidFill>
                <a:srgbClr val="CBD5E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Black</c:v>
                </c:pt>
                <c:pt idx="1">
                  <c:v>Indian / Asian</c:v>
                </c:pt>
                <c:pt idx="2">
                  <c:v>White</c:v>
                </c:pt>
                <c:pt idx="3">
                  <c:v>Coloured</c:v>
                </c:pt>
                <c:pt idx="4">
                  <c:v>Unknown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1811</c:v>
                </c:pt>
                <c:pt idx="1">
                  <c:v>768</c:v>
                </c:pt>
                <c:pt idx="2">
                  <c:v>760</c:v>
                </c:pt>
                <c:pt idx="3">
                  <c:v>679</c:v>
                </c:pt>
                <c:pt idx="4">
                  <c:v>1078</c:v>
                </c:pt>
                <c:pt idx="5">
                  <c:v>48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0F8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Watch Time (s)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7C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3A6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B8C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ICC Cricket World Cup 2011</c:v>
                  </c:pt>
                  <c:pt idx="1">
                    <c:v>Supersport Live Events</c:v>
                  </c:pt>
                  <c:pt idx="2">
                    <c:v>Channel O</c:v>
                  </c:pt>
                  <c:pt idx="3">
                    <c:v>Trace TV</c:v>
                  </c:pt>
                  <c:pt idx="4">
                    <c:v>SuperSport Blitz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1483652</c:v>
                </c:pt>
                <c:pt idx="1">
                  <c:v>1127516</c:v>
                </c:pt>
                <c:pt idx="2">
                  <c:v>693921</c:v>
                </c:pt>
                <c:pt idx="3">
                  <c:v>690927</c:v>
                </c:pt>
                <c:pt idx="4">
                  <c:v>326446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Watch Seconds</c:v>
                </c:pt>
              </c:strCache>
            </c:strRef>
          </c:tx>
          <c:spPr>
            <a:solidFill>
              <a:srgbClr val="1A3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3A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3A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3A6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3A6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7C8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A3A6B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Monday</c:v>
                  </c:pt>
                  <c:pt idx="1">
                    <c:v>Tuesday</c:v>
                  </c:pt>
                  <c:pt idx="2">
                    <c:v>Wednesday</c:v>
                  </c:pt>
                  <c:pt idx="3">
                    <c:v>Thursday</c:v>
                  </c:pt>
                  <c:pt idx="4">
                    <c:v>Friday</c:v>
                  </c:pt>
                  <c:pt idx="5">
                    <c:v>Saturday</c:v>
                  </c:pt>
                  <c:pt idx="6">
                    <c:v>Sunday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423512</c:v>
                </c:pt>
                <c:pt idx="1">
                  <c:v>718732</c:v>
                </c:pt>
                <c:pt idx="2">
                  <c:v>844555</c:v>
                </c:pt>
                <c:pt idx="3">
                  <c:v>837909</c:v>
                </c:pt>
                <c:pt idx="4">
                  <c:v>898348</c:v>
                </c:pt>
                <c:pt idx="5">
                  <c:v>1076774</c:v>
                </c:pt>
                <c:pt idx="6">
                  <c:v>683209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8F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Timeframe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A623"/>
              </a:solidFill>
              <a:effectLst/>
            </c:spPr>
          </c:dPt>
          <c:dPt>
            <c:idx val="1"/>
            <c:bubble3D val="0"/>
            <c:spPr>
              <a:solidFill>
                <a:srgbClr val="0D7C8F"/>
              </a:solidFill>
              <a:effectLst/>
            </c:spPr>
          </c:dPt>
          <c:dPt>
            <c:idx val="2"/>
            <c:bubble3D val="0"/>
            <c:spPr>
              <a:solidFill>
                <a:srgbClr val="1A3A6B"/>
              </a:solidFill>
              <a:effectLst/>
            </c:spPr>
          </c:dPt>
          <c:dPt>
            <c:idx val="3"/>
            <c:bubble3D val="0"/>
            <c:spPr>
              <a:solidFill>
                <a:srgbClr val="0A162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Afternoon</c:v>
                </c:pt>
                <c:pt idx="1">
                  <c:v>Morning</c:v>
                </c:pt>
                <c:pt idx="2">
                  <c:v>Evening</c:v>
                </c:pt>
                <c:pt idx="3">
                  <c:v>Night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3807</c:v>
                </c:pt>
                <c:pt idx="1">
                  <c:v>3383</c:v>
                </c:pt>
                <c:pt idx="2">
                  <c:v>2249</c:v>
                </c:pt>
                <c:pt idx="3">
                  <c:v>561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0F8F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Viewership Records</c:v>
                </c:pt>
              </c:strCache>
            </c:strRef>
          </c:tx>
          <c:spPr>
            <a:solidFill>
              <a:srgbClr val="1A3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3A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7C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January</c:v>
                  </c:pt>
                  <c:pt idx="1">
                    <c:v>February</c:v>
                  </c:pt>
                  <c:pt idx="2">
                    <c:v>March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2203</c:v>
                </c:pt>
                <c:pt idx="1">
                  <c:v>2976</c:v>
                </c:pt>
                <c:pt idx="2">
                  <c:v>4821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4B8C8"/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54864" cy="5143500"/>
          </a:xfrm>
          <a:prstGeom prst="rect">
            <a:avLst/>
          </a:prstGeom>
          <a:solidFill>
            <a:srgbClr val="14B8C8"/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371600"/>
            <a:ext cx="5394960" cy="45720"/>
          </a:xfrm>
          <a:prstGeom prst="rect">
            <a:avLst/>
          </a:prstGeom>
          <a:solidFill>
            <a:srgbClr val="14B8C8"/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2004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BRIGHTTV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 INSIGHTS REPORT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55448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 Streaming Analytics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– March 2016  ·  SQL Dataset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35040" y="3200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C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5,375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035040" y="9601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325880"/>
            <a:ext cx="2560320" cy="0"/>
          </a:xfrm>
          <a:prstGeom prst="line">
            <a:avLst/>
          </a:prstGeom>
          <a:noFill/>
          <a:ln w="10160">
            <a:solidFill>
              <a:srgbClr val="0D7C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4630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10,000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035040" y="21031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Records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468880"/>
            <a:ext cx="2560320" cy="0"/>
          </a:xfrm>
          <a:prstGeom prst="line">
            <a:avLst/>
          </a:prstGeom>
          <a:noFill/>
          <a:ln w="10160">
            <a:solidFill>
              <a:srgbClr val="0D7C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26060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1,523h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035040" y="32461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Watch Hours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3611880"/>
            <a:ext cx="2560320" cy="0"/>
          </a:xfrm>
          <a:prstGeom prst="line">
            <a:avLst/>
          </a:prstGeom>
          <a:noFill/>
          <a:ln w="10160">
            <a:solidFill>
              <a:srgbClr val="0D7C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37490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BD5E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035040" y="43891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Channels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4681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20240" cy="13716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8755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5,375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16093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8836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9 provinces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50592" y="914400"/>
            <a:ext cx="1920240" cy="13716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98755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72.9%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50592" y="16093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Viewers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50592" y="18836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identified gender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26864" y="914400"/>
            <a:ext cx="1920240" cy="1371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98755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ICC Cricket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26864" y="16093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Channel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26864" y="18836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1.48M seconds watched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03136" y="914400"/>
            <a:ext cx="1920240" cy="1371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98755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Saturday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03136" y="16093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Day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03136" y="18836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1,655 views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25146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2852928"/>
            <a:ext cx="8595360" cy="36576"/>
          </a:xfrm>
          <a:prstGeom prst="rect">
            <a:avLst/>
          </a:prstGeom>
          <a:solidFill>
            <a:srgbClr val="14B8C8"/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044952"/>
            <a:ext cx="201168" cy="201168"/>
          </a:xfrm>
          <a:prstGeom prst="ellipse">
            <a:avLst/>
          </a:prstGeom>
          <a:solidFill>
            <a:srgbClr val="14B8C8"/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0175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" y="299008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leads with 31.7% of users (1,704), followed by Western Cape (14.7%) — the top 2 provinces hold 46.4% of all viewers, confirming urban concentration.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520440"/>
            <a:ext cx="201168" cy="201168"/>
          </a:xfrm>
          <a:prstGeom prst="ellipse">
            <a:avLst/>
          </a:prstGeom>
          <a:solidFill>
            <a:srgbClr val="14B8C8"/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49300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" y="346557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content dominates: ICC Cricket + SuperSport channels command 78.8% of total watch time across the top 5 channels — an even stronger skew than seen previously.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995928"/>
            <a:ext cx="201168" cy="201168"/>
          </a:xfrm>
          <a:prstGeom prst="ellipse">
            <a:avLst/>
          </a:prstGeom>
          <a:solidFill>
            <a:srgbClr val="14B8C8"/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96849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6928" y="39410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audience is younger than expected: Young Adults (18–34) are the #1 age group at 47.1%, with average age 27.7 — a major shift indicating a growing youth base.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471416"/>
            <a:ext cx="201168" cy="201168"/>
          </a:xfrm>
          <a:prstGeom prst="ellipse">
            <a:avLst/>
          </a:prstGeom>
          <a:solidFill>
            <a:srgbClr val="14B8C8"/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44398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" y="441655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is the breakout month: viewership more than doubled from January (2,203) to March (4,821 records), signalling rapid platform growth over the quarter.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GEOGRAPHIC DISTRIBUTION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3035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760720" y="8229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Provinces at a Glance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760720" y="1261872"/>
            <a:ext cx="32004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261872"/>
            <a:ext cx="64008" cy="100584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13258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309360" y="132588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09360" y="16459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1,704 users · 31.7% share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309360" y="1956816"/>
            <a:ext cx="2560320" cy="1097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09360" y="1956816"/>
            <a:ext cx="2318918" cy="109728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60720" y="2450592"/>
            <a:ext cx="32004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60720" y="2450592"/>
            <a:ext cx="64008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97880" y="25146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309360" y="251460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Cape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09360" y="2834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791 users · 14.7% share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309360" y="3145536"/>
            <a:ext cx="2560320" cy="1097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09360" y="3145536"/>
            <a:ext cx="1075334" cy="10972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760720" y="3639312"/>
            <a:ext cx="32004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760720" y="3639312"/>
            <a:ext cx="64008" cy="1005840"/>
          </a:xfrm>
          <a:prstGeom prst="rect">
            <a:avLst/>
          </a:prstGeom>
          <a:solidFill>
            <a:srgbClr val="14B8C8"/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97880" y="37033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309360" y="370332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KwaZulu-Natal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309360" y="40233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481 users · 8.9% share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309360" y="4334256"/>
            <a:ext cx="2560320" cy="1097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309360" y="4334256"/>
            <a:ext cx="651053" cy="109728"/>
          </a:xfrm>
          <a:prstGeom prst="rect">
            <a:avLst/>
          </a:prstGeom>
          <a:solidFill>
            <a:srgbClr val="14B8C8"/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province: 218 users (4.1%) · Total counted users: 5,375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DEMOGRAPHICS — GENDER &amp; 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0" y="777240"/>
            <a:ext cx="0" cy="42976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182880" y="1188720"/>
          <a:ext cx="42062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498848"/>
            <a:ext cx="3931920" cy="47548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49884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72.9% of viewers are male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754880" y="8229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Breakdown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54880" y="1591056"/>
            <a:ext cx="4114800" cy="219456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1591056"/>
            <a:ext cx="4114800" cy="219456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0" y="12984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 (18–34)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98080" y="12984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2,532 (47.1%)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2414016"/>
            <a:ext cx="4114800" cy="219456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54880" y="2414016"/>
            <a:ext cx="2827706" cy="21945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21214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(35–59)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498080" y="212140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1,740 (32.4%)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54880" y="3236976"/>
            <a:ext cx="4114800" cy="219456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54880" y="3236976"/>
            <a:ext cx="1696624" cy="21945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29443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(&lt;18)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498080" y="29443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1,044 (19.4%)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54880" y="4059936"/>
            <a:ext cx="4114800" cy="219456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754880" y="4059936"/>
            <a:ext cx="95882" cy="21945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54880" y="37673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(60+)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498080" y="376732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(1.1%)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754880" y="464515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age: 27.7 years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DEMOGRAPHICS — RACE PROFILE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82880" y="777240"/>
          <a:ext cx="4572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937760" y="8229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Distribution Details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937760" y="1261872"/>
            <a:ext cx="3931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937760" y="1261872"/>
            <a:ext cx="54864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02352" y="12984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102352" y="15179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1,811 users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772400" y="1353312"/>
            <a:ext cx="82296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0" y="135331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33.7%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937760" y="1883664"/>
            <a:ext cx="3931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37760" y="1883664"/>
            <a:ext cx="54864" cy="50292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02352" y="1920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/ Asian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102352" y="21396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users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772400" y="1975104"/>
            <a:ext cx="822960" cy="292608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0" y="19751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14.3%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937760" y="2505456"/>
            <a:ext cx="3931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37760" y="2505456"/>
            <a:ext cx="54864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02352" y="2542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102352" y="27614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760 users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772400" y="2596896"/>
            <a:ext cx="822960" cy="2926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0" y="25968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14.1%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937760" y="3127248"/>
            <a:ext cx="3931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937760" y="3127248"/>
            <a:ext cx="54864" cy="502920"/>
          </a:xfrm>
          <a:prstGeom prst="rect">
            <a:avLst/>
          </a:prstGeom>
          <a:solidFill>
            <a:srgbClr val="14B8C8"/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102352" y="31638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Coloured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102352" y="33832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679 users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772400" y="3218688"/>
            <a:ext cx="822960" cy="292608"/>
          </a:xfrm>
          <a:prstGeom prst="rect">
            <a:avLst/>
          </a:prstGeom>
          <a:solidFill>
            <a:srgbClr val="14B8C8"/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72400" y="32186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12.6%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937760" y="3749040"/>
            <a:ext cx="3931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937760" y="3749040"/>
            <a:ext cx="54864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102352" y="37856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102352" y="40050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1,078 users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7772400" y="3840480"/>
            <a:ext cx="822960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772400" y="38404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20.1%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937760" y="4370832"/>
            <a:ext cx="3931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937760" y="4370832"/>
            <a:ext cx="54864" cy="5029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102352" y="44074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102352" y="46268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users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7772400" y="4462272"/>
            <a:ext cx="822960" cy="2926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772400" y="44622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0.9%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PERFORMING CHANNELS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3035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760720" y="8229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Performance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760720" y="1261872"/>
            <a:ext cx="3200400" cy="640080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60720" y="1261872"/>
            <a:ext cx="54864" cy="640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1298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 Cricket World Cup 2011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897880" y="159105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412h watched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8046720" y="1399032"/>
            <a:ext cx="777240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0" y="139903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27.1%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60720" y="2029968"/>
            <a:ext cx="3200400" cy="640080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60720" y="2029968"/>
            <a:ext cx="54864" cy="64008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97880" y="20665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Supersport Live Events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897880" y="23591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313h watched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046720" y="2167128"/>
            <a:ext cx="777240" cy="32004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46720" y="216712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20.6%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760720" y="2798064"/>
            <a:ext cx="3200400" cy="640080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760720" y="2798064"/>
            <a:ext cx="54864" cy="6400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97880" y="2834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O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897880" y="31272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193h watched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046720" y="2935224"/>
            <a:ext cx="777240" cy="3200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46720" y="293522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12.7%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760720" y="3566160"/>
            <a:ext cx="3200400" cy="640080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760720" y="3566160"/>
            <a:ext cx="54864" cy="640080"/>
          </a:xfrm>
          <a:prstGeom prst="rect">
            <a:avLst/>
          </a:prstGeom>
          <a:solidFill>
            <a:srgbClr val="14B8C8"/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97880" y="36027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TV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897880" y="389534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192h watched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8046720" y="3703320"/>
            <a:ext cx="777240" cy="320040"/>
          </a:xfrm>
          <a:prstGeom prst="rect">
            <a:avLst/>
          </a:prstGeom>
          <a:solidFill>
            <a:srgbClr val="14B8C8"/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046720" y="37033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12.6%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760720" y="4334256"/>
            <a:ext cx="3200400" cy="640080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760720" y="4334256"/>
            <a:ext cx="54864" cy="6400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97880" y="4370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SuperSport Blitz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897880" y="4663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91h watched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8046720" y="4471416"/>
            <a:ext cx="77724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046720" y="447141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6.0%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channels = 78.8% of all watch time  ·  21 unique channels tracked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VIEWING PATTERNS — DAY &amp; TIME OF DAY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22960"/>
          <a:ext cx="53035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361188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</a:t>
            </a:r>
            <a:endParaRPr lang="en-US" sz="12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182880" y="3840480"/>
          <a:ext cx="530352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5760720" y="8229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Insights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760720" y="1261872"/>
            <a:ext cx="32004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760720" y="1261872"/>
            <a:ext cx="54864" cy="7498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897880" y="13075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Day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897880" y="159105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1,655 views (16.6%)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760720" y="2139696"/>
            <a:ext cx="32004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760720" y="2139696"/>
            <a:ext cx="54864" cy="7498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897880" y="21854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Day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897880" y="24688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974 views (9.7%)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760720" y="3017520"/>
            <a:ext cx="32004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60720" y="3017520"/>
            <a:ext cx="54864" cy="749808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97880" y="3063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Bloc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5897880" y="334670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+ Sun = 30.5%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views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760720" y="3895344"/>
            <a:ext cx="32004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760720" y="3895344"/>
            <a:ext cx="54864" cy="7498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97880" y="39410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Fri–Sat Surge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5897880" y="42245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Back-to-back peak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 above Mon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MONTHLY GROWTH TREND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22960"/>
          <a:ext cx="50292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0" y="8229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Month-by-Month Breakdown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0" y="1298448"/>
            <a:ext cx="3474720" cy="1005840"/>
          </a:xfrm>
          <a:prstGeom prst="rect">
            <a:avLst/>
          </a:prstGeom>
          <a:solidFill>
            <a:srgbClr val="E8F4F8"/>
          </a:solidFill>
          <a:ln w="1905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0" y="1298448"/>
            <a:ext cx="64008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50992" y="1344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50992" y="16459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2,203 viewership records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650992" y="19019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291h total watch time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0" y="2468880"/>
            <a:ext cx="3474720" cy="1005840"/>
          </a:xfrm>
          <a:prstGeom prst="rect">
            <a:avLst/>
          </a:prstGeom>
          <a:solidFill>
            <a:srgbClr val="E8F4F8"/>
          </a:solidFill>
          <a:ln w="19050">
            <a:solidFill>
              <a:srgbClr val="0D7C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0" y="2468880"/>
            <a:ext cx="64008" cy="100584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50992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650992" y="28163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2,976 viewership records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650992" y="30723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393h total watch time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86400" y="3639312"/>
            <a:ext cx="3474720" cy="1005840"/>
          </a:xfrm>
          <a:prstGeom prst="rect">
            <a:avLst/>
          </a:prstGeom>
          <a:solidFill>
            <a:srgbClr val="E8F4F8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0" y="3639312"/>
            <a:ext cx="6400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50992" y="3685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650992" y="39867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4,821 viewership records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650992" y="42428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839h total watch time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0" y="4663440"/>
            <a:ext cx="34747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0" y="46634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= 2.19× January's viewership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INSIGHTS &amp;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B8C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691640"/>
            <a:ext cx="4114800" cy="1417320"/>
          </a:xfrm>
          <a:prstGeom prst="rect">
            <a:avLst/>
          </a:prstGeom>
          <a:solidFill>
            <a:srgbClr val="1E3A5F"/>
          </a:solidFill>
          <a:ln w="19050">
            <a:solidFill>
              <a:srgbClr val="0D7C8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691640"/>
            <a:ext cx="64008" cy="141732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7830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Gauteng &amp; Western Cape First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213055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provinces hold 46.4% of all users (2,495). Premium content drops, localised marketing, and price promotions should prioritise these markets for fastest ROI.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3264408"/>
            <a:ext cx="4114800" cy="141732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3264408"/>
            <a:ext cx="64008" cy="1417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33558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More Live Sports Rights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37033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 Cricket + SuperSport brands account for 78.8% of top-5 watch time. Expanding live sports deals — cricket, football, rugby — is the single biggest driver of engagement.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691640"/>
            <a:ext cx="4114800" cy="1417320"/>
          </a:xfrm>
          <a:prstGeom prst="rect">
            <a:avLst/>
          </a:prstGeom>
          <a:solidFill>
            <a:srgbClr val="1E3A5F"/>
          </a:solidFill>
          <a:ln w="19050">
            <a:solidFill>
              <a:srgbClr val="F9616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691640"/>
            <a:ext cx="64008" cy="1417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7830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Young Adults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19472" y="213055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47.1% of users are aged 18–34 (avg. 27.7 yrs), vs. a heavily Senior-skewed prior dataset. Content, UX, and social media strategy must pivot to resonate with this younger audience.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3264408"/>
            <a:ext cx="4114800" cy="1417320"/>
          </a:xfrm>
          <a:prstGeom prst="rect">
            <a:avLst/>
          </a:prstGeom>
          <a:solidFill>
            <a:srgbClr val="1E3A5F"/>
          </a:solidFill>
          <a:ln w="19050">
            <a:solidFill>
              <a:srgbClr val="14B8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264408"/>
            <a:ext cx="64008" cy="1417320"/>
          </a:xfrm>
          <a:prstGeom prst="rect">
            <a:avLst/>
          </a:prstGeom>
          <a:solidFill>
            <a:srgbClr val="14B8C8"/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33558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Capitalise on the March Momentum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19472" y="37033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grew 119% from Jan to March. Pushing premium content, notifications and trial offers into April/May can convert this momentum into sustained retention.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Analytics  ·  Q1 2016 SQL Dataset  ·  April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BrightTV Viewer Insights – SQL Dataset</dc:title>
  <dc:subject>PptxGenJS Presentation</dc:subject>
  <dc:creator>PptxGenJS</dc:creator>
  <cp:lastModifiedBy>PptxGenJS</cp:lastModifiedBy>
  <cp:revision>1</cp:revision>
  <dcterms:created xsi:type="dcterms:W3CDTF">2026-04-19T18:44:57Z</dcterms:created>
  <dcterms:modified xsi:type="dcterms:W3CDTF">2026-04-19T18:44:57Z</dcterms:modified>
</cp:coreProperties>
</file>